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1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73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080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A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C2A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18320" y="-1463040"/>
            <a:ext cx="4114800" cy="4114800"/>
          </a:xfrm>
          <a:prstGeom prst="ellipse">
            <a:avLst/>
          </a:prstGeom>
          <a:solidFill>
            <a:srgbClr val="9B13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9B13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40080" cy="73152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Branching Strategy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Retiring the long-lived dev branch in favor of a release branch that carries code all the way to production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&amp; Lead Briefing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main + dev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long-lived branches, merged together only right before release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96112" y="1975104"/>
            <a:ext cx="296265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24713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only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96112" y="3986784"/>
            <a:ext cx="296265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425881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 work merges here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32461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45152" y="3246120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66360" y="3703320"/>
            <a:ext cx="9144" cy="9144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89320" y="32461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62472" y="3246120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3703320"/>
            <a:ext cx="9144" cy="9144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406640" y="32461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79792" y="3246120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01000" y="3703320"/>
            <a:ext cx="9144" cy="9144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166360" y="3794760"/>
            <a:ext cx="283464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583680" y="3794760"/>
            <a:ext cx="9144" cy="22860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931920" y="4023360"/>
            <a:ext cx="265176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931920" y="4023360"/>
            <a:ext cx="9144" cy="20574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 flipV="1">
            <a:off x="2377440" y="2542032"/>
            <a:ext cx="9144" cy="1371600"/>
          </a:xfrm>
          <a:prstGeom prst="line">
            <a:avLst/>
          </a:prstGeom>
          <a:noFill/>
          <a:ln w="19050">
            <a:solidFill>
              <a:srgbClr val="D71E2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606040" y="3063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9B1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days before release: dev merges into main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52560" y="37947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2C2A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235440" y="3913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35440" y="418795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drifts ahead of main all sprint — the big merge at release time is where surprises show up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change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dev branch costs us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isn't trustworthy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295144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reflects reality after a manual, once-per-release merge — not continuously.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2004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week absorbs the risk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529584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accumulated sprint work all collide in a single merge right before go-live.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4348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764024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dev, what's tested in QA, and what actually ships to prod can all be different snapshots.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Proposed: named release branches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month over month — shown here for Sep 20 and Oct 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420624"/>
          </a:xfrm>
          <a:prstGeom prst="roundRect">
            <a:avLst>
              <a:gd name="adj" fmla="val 17391"/>
            </a:avLst>
          </a:prstGeom>
          <a:solidFill>
            <a:srgbClr val="FCE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 branch is the source of truth for the upcoming release until it reaches production; main represents only the currently deployed production state.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0440" y="21488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93592" y="2203704"/>
            <a:ext cx="186537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93592" y="242544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deployable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306324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87552" y="3118104"/>
            <a:ext cx="232257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release/2026-09-20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3375050"/>
            <a:ext cx="232257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merge in here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11880" y="306324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85032" y="3118104"/>
            <a:ext cx="20025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85032" y="3375050"/>
            <a:ext cx="20025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QA → Staging → Prod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306324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62472" y="3118104"/>
            <a:ext cx="20025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62472" y="3375050"/>
            <a:ext cx="20025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2026.09.20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3346704"/>
            <a:ext cx="22860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760720" y="3346704"/>
            <a:ext cx="22860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14400" y="457200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87552" y="4626864"/>
            <a:ext cx="232257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release/2026-10-20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" y="4883810"/>
            <a:ext cx="232257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merge in here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11880" y="457200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85032" y="4626864"/>
            <a:ext cx="20025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85032" y="4883810"/>
            <a:ext cx="20025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QA → Staging → Prod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457200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062472" y="4626864"/>
            <a:ext cx="20025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62472" y="4883810"/>
            <a:ext cx="20025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2026.10.20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4855464"/>
            <a:ext cx="22860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760720" y="4855464"/>
            <a:ext cx="22860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526280" y="2651760"/>
            <a:ext cx="9144" cy="18288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148840" y="2834640"/>
            <a:ext cx="237744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148840" y="2834640"/>
            <a:ext cx="9144" cy="22860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148840" y="3630168"/>
            <a:ext cx="9144" cy="941832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520440" y="36758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B1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release cut from here — not from main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063740" y="2400300"/>
            <a:ext cx="9144" cy="662940"/>
          </a:xfrm>
          <a:prstGeom prst="line">
            <a:avLst/>
          </a:prstGeom>
          <a:noFill/>
          <a:ln w="19050">
            <a:solidFill>
              <a:srgbClr val="FFCD4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532120" y="2400300"/>
            <a:ext cx="1531620" cy="9144"/>
          </a:xfrm>
          <a:prstGeom prst="line">
            <a:avLst/>
          </a:prstGeom>
          <a:noFill/>
          <a:ln w="19050">
            <a:solidFill>
              <a:srgbClr val="FFCD41"/>
            </a:solidFill>
            <a:prstDash val="dash"/>
            <a:head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063740" y="4279392"/>
            <a:ext cx="9144" cy="292608"/>
          </a:xfrm>
          <a:prstGeom prst="line">
            <a:avLst/>
          </a:prstGeom>
          <a:noFill/>
          <a:ln w="19050">
            <a:solidFill>
              <a:srgbClr val="FFCD41"/>
            </a:solidFill>
            <a:prstDash val="dash"/>
            <a:head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806440" y="4005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into main the same way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4400" y="27706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1 — Sep 20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4400" y="4279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 — Oct 20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state, with real branch names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branch lifecycle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status path a release branch goes through, start to finish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0100" y="169164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73252" y="174650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3252" y="200345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from main / prior tip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48940" y="169164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022092" y="174650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22092" y="200345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work merges 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97780" y="169164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170932" y="174650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70932" y="200345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build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46620" y="169164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9772" y="174650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9772" y="200345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build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95460" y="169164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468612" y="174650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68612" y="200345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build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0100" y="32461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2C2A29"/>
          </a:solidFill>
          <a:ln w="9525">
            <a:solidFill>
              <a:srgbClr val="2C2A2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73252" y="330098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3252" y="355793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freeze begins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48940" y="32461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2C2A29"/>
          </a:solidFill>
          <a:ln w="9525">
            <a:solidFill>
              <a:srgbClr val="2C2A2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022092" y="330098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22092" y="355793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live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97780" y="32461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70932" y="330098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to main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70932" y="355793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→ main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46620" y="32461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319772" y="330098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9772" y="355793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v2026.MM.DD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95460" y="32461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468612" y="3300984"/>
            <a:ext cx="1819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468612" y="3557930"/>
            <a:ext cx="1819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retired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66060" y="197510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766060" y="352958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914900" y="197510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914900" y="352958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063740" y="197510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063740" y="352958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212580" y="197510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9212580" y="3529584"/>
            <a:ext cx="18288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0378440" y="2258568"/>
            <a:ext cx="9144" cy="493776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1783080" y="2752344"/>
            <a:ext cx="859536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1783080" y="2752344"/>
            <a:ext cx="9144" cy="493776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057400" y="2496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enters code freeze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14400" y="4315968"/>
            <a:ext cx="10332720" cy="548640"/>
          </a:xfrm>
          <a:prstGeom prst="roundRect">
            <a:avLst>
              <a:gd name="adj" fmla="val 13333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097280" y="431596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main is tagged, the release branch has done its job — delete or archive it. Don't keep shipping into a closed branch.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branches, named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story branches off, gets reviewed, and merges into the open release branch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468880" y="1554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542032" y="1609344"/>
            <a:ext cx="16824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42032" y="18059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SSO login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9144" cy="13716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45152" y="1609344"/>
            <a:ext cx="16824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45152" y="18059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ID upload validation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2011680"/>
            <a:ext cx="9144" cy="13716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675120" y="15544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48272" y="1609344"/>
            <a:ext cx="16824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48272" y="18059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audit log schema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2011680"/>
            <a:ext cx="9144" cy="13716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383280" y="2148840"/>
            <a:ext cx="420624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486400" y="2148840"/>
            <a:ext cx="9144" cy="18288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251960" y="237744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25112" y="2432304"/>
            <a:ext cx="232257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release/2026-09-20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25112" y="2689250"/>
            <a:ext cx="232257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merge in per sprint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95160" y="237744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068312" y="2432304"/>
            <a:ext cx="22311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68312" y="2689250"/>
            <a:ext cx="22311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QA → Staging → Prod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46920" y="237744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720072" y="2432304"/>
            <a:ext cx="22311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20072" y="2689250"/>
            <a:ext cx="22311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2026.09.20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2660904"/>
            <a:ext cx="27432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372600" y="2660904"/>
            <a:ext cx="27432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371600" y="3355848"/>
            <a:ext cx="9418320" cy="685800"/>
          </a:xfrm>
          <a:prstGeom prst="roundRect">
            <a:avLst>
              <a:gd name="adj" fmla="val 1066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554480" y="3355848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pattern:  feature/US-&lt;story id&gt;-&lt;short description&gt;  → PR into the open release branch, never into main.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 naming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a new sprint mid-release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Sep 20 release is locked and in validation — where does next sprint's work go?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 new branch from the locked release branch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from the tip of release/2026-09-20 — not from main, which doesn't have this release yet.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9659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83680" y="2194560"/>
            <a:ext cx="457200" cy="457200"/>
          </a:xfrm>
          <a:prstGeom prst="ellipse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214884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PRs into the new branch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78040" y="265176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for the new sprint come off it, and PRs merge back into it — same pattern, new branch.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3891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from main once the old release ships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71600" y="489204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release/2026-09-20 merges into main, merge main back into the new branch to pick up the tag.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42062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583680" y="4434840"/>
            <a:ext cx="457200" cy="457200"/>
          </a:xfrm>
          <a:prstGeom prst="ellipse">
            <a:avLst/>
          </a:prstGeom>
          <a:solidFill>
            <a:srgbClr val="D7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83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43891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hotfixes on the old release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78040" y="489204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hotfix cut against the old release or main must also be merged forward into the new branch.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Hotfixes don't wait for the next release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login-timeout bug found in prod after Sep 20 shipped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155448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730752" y="1609344"/>
            <a:ext cx="2139696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30752" y="1831086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2026.09.20 (live)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87552" y="2706624"/>
            <a:ext cx="287121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hotfix/2026-09-25-login-fix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963570"/>
            <a:ext cx="287121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prod fix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265176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8D5CF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233672" y="2706624"/>
            <a:ext cx="20025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33672" y="2963570"/>
            <a:ext cx="20025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expedited Dev → QA → Prod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265176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611112" y="2706624"/>
            <a:ext cx="20025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1112" y="2963570"/>
            <a:ext cx="200253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2026.09.25-hotfix1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2935224"/>
            <a:ext cx="22860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09360" y="2935224"/>
            <a:ext cx="22860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00600" y="2057400"/>
            <a:ext cx="9144" cy="18288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423160" y="2240280"/>
            <a:ext cx="2377440" cy="9144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423160" y="2240280"/>
            <a:ext cx="9144" cy="411480"/>
          </a:xfrm>
          <a:prstGeom prst="line">
            <a:avLst/>
          </a:prstGeom>
          <a:noFill/>
          <a:ln w="19050">
            <a:solidFill>
              <a:srgbClr val="4A474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12380" y="1805940"/>
            <a:ext cx="9144" cy="845820"/>
          </a:xfrm>
          <a:prstGeom prst="line">
            <a:avLst/>
          </a:prstGeom>
          <a:noFill/>
          <a:ln w="19050">
            <a:solidFill>
              <a:srgbClr val="FFCD4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943600" y="1805940"/>
            <a:ext cx="1668780" cy="9144"/>
          </a:xfrm>
          <a:prstGeom prst="line">
            <a:avLst/>
          </a:prstGeom>
          <a:noFill/>
          <a:ln w="19050">
            <a:solidFill>
              <a:srgbClr val="FFCD41"/>
            </a:solidFill>
            <a:prstDash val="dash"/>
            <a:head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46120" y="3995928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19272" y="4050792"/>
            <a:ext cx="296265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release/2026-10-20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19272" y="4307738"/>
            <a:ext cx="296265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 — needs this fix too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12380" y="3218688"/>
            <a:ext cx="9144" cy="521208"/>
          </a:xfrm>
          <a:prstGeom prst="line">
            <a:avLst/>
          </a:prstGeom>
          <a:noFill/>
          <a:ln w="19050">
            <a:solidFill>
              <a:srgbClr val="2C2A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612380" y="3739896"/>
            <a:ext cx="0" cy="9144"/>
          </a:xfrm>
          <a:prstGeom prst="line">
            <a:avLst/>
          </a:prstGeom>
          <a:noFill/>
          <a:ln w="19050">
            <a:solidFill>
              <a:srgbClr val="2C2A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00600" y="3739896"/>
            <a:ext cx="9144" cy="256032"/>
          </a:xfrm>
          <a:prstGeom prst="line">
            <a:avLst/>
          </a:prstGeom>
          <a:noFill/>
          <a:ln w="19050">
            <a:solidFill>
              <a:srgbClr val="2C2A2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749540" y="33558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4A4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forward-merge — don't let the open release branch miss this fix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 flow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handles the edge cases your team will ask about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984248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 conflicts with a locked release?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5000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release branch is still open, the fix merges straight into it and main. Once closed, forward-merge into main and whichever release branch is open.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29400" y="1984248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29400" y="20574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releases running at once?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235000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release in validation and the next sprint's branch can coexist. Keep them in sync via the forward-merge and post-ship sync steps.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22960" y="3447288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3520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roll back?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81304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 always the last known-good deployed state, so rolling back means redeploying its previous tag — no branch archaeology.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32461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629400" y="3447288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629400" y="3520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QA re-test everything each time?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381304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only the delta introduced since the last QA pass on that branch, whether from feature PRs or a hotfix.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22960" y="4910328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2960" y="49834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release branch be locked?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27608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apply branch protection once it enters Staging/Prod validation; only approved hotfix commits get in after that.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47091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629400" y="4910328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629400" y="49834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merge into a release branch?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527608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PRs: normal peer review. Merge to main and any post-lock hotfix: requires lead / release-owner approval.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prep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 sheet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branch from, and where to raise your PR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291840" cy="502920"/>
          </a:xfrm>
          <a:prstGeom prst="rect">
            <a:avLst/>
          </a:prstGeom>
          <a:solidFill>
            <a:srgbClr val="2C2A29"/>
          </a:solidFill>
          <a:ln w="12700">
            <a:solidFill>
              <a:srgbClr val="F7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" y="2011680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0" y="2011680"/>
            <a:ext cx="3840480" cy="502920"/>
          </a:xfrm>
          <a:prstGeom prst="rect">
            <a:avLst/>
          </a:prstGeom>
          <a:solidFill>
            <a:srgbClr val="2C2A29"/>
          </a:solidFill>
          <a:ln w="12700">
            <a:solidFill>
              <a:srgbClr val="F7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950208" y="201168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from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2011680"/>
            <a:ext cx="3931920" cy="502920"/>
          </a:xfrm>
          <a:prstGeom prst="rect">
            <a:avLst/>
          </a:prstGeom>
          <a:solidFill>
            <a:srgbClr val="2C2A29"/>
          </a:solidFill>
          <a:ln w="12700">
            <a:solidFill>
              <a:srgbClr val="F7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90688" y="2011680"/>
            <a:ext cx="3712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into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" y="251460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sprint 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0" y="2514600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950208" y="2514600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open release branch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0" y="251460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90688" y="2514600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release branch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3291840" cy="566928"/>
          </a:xfrm>
          <a:prstGeom prst="rect">
            <a:avLst/>
          </a:prstGeom>
          <a:solidFill>
            <a:srgbClr val="EFECE6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8368" y="3081528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sprint, prior release locked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0480" y="3081528"/>
            <a:ext cx="3840480" cy="566928"/>
          </a:xfrm>
          <a:prstGeom prst="rect">
            <a:avLst/>
          </a:prstGeom>
          <a:solidFill>
            <a:srgbClr val="EFECE6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950208" y="3081528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of the locked release branch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80960" y="3081528"/>
            <a:ext cx="3931920" cy="566928"/>
          </a:xfrm>
          <a:prstGeom prst="rect">
            <a:avLst/>
          </a:prstGeom>
          <a:solidFill>
            <a:srgbClr val="EFECE6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90688" y="3081528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release branch you create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648456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8368" y="3648456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validated in prod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840480" y="3648456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950208" y="3648456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(automatic)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80960" y="3648456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790688" y="3648456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branch → main (tag)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215384"/>
            <a:ext cx="3291840" cy="566928"/>
          </a:xfrm>
          <a:prstGeom prst="rect">
            <a:avLst/>
          </a:prstGeom>
          <a:solidFill>
            <a:srgbClr val="EFECE6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8368" y="4215384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 needed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840480" y="4215384"/>
            <a:ext cx="3840480" cy="566928"/>
          </a:xfrm>
          <a:prstGeom prst="rect">
            <a:avLst/>
          </a:prstGeom>
          <a:solidFill>
            <a:srgbClr val="EFECE6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950208" y="4215384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(or open release branch)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80960" y="4215384"/>
            <a:ext cx="3931920" cy="566928"/>
          </a:xfrm>
          <a:prstGeom prst="rect">
            <a:avLst/>
          </a:prstGeom>
          <a:solidFill>
            <a:srgbClr val="EFECE6"/>
          </a:solidFill>
          <a:ln w="12700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790688" y="4215384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forward into main and any open release branch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worth the change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0292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267712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 always deployable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checking whether main actually reflects prod.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20116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629400" y="2267712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629400" y="23591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commit, every environment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29400" y="274320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commit validated in QA reaches prod. (Full immutable-artifact promotion depends on your CI/CD — confirm that's how yours works.)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22960" y="3913632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400507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calmer release windows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massive dev-to-main merge sitting on the critical path.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36576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7F6F4"/>
          </a:solidFill>
          <a:ln w="9525">
            <a:solidFill>
              <a:srgbClr val="E3E0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29400" y="3913632"/>
            <a:ext cx="365760" cy="54864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29400" y="400507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C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rollback point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29400" y="438912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 always the last known-good, deployed state.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for developers &amp; leads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2A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840480" cy="3840480"/>
          </a:xfrm>
          <a:prstGeom prst="ellipse">
            <a:avLst/>
          </a:prstGeom>
          <a:solidFill>
            <a:srgbClr val="9B13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2514600"/>
            <a:ext cx="640080" cy="73152"/>
          </a:xfrm>
          <a:prstGeom prst="rect">
            <a:avLst/>
          </a:prstGeom>
          <a:solidFill>
            <a:srgbClr val="FFCD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Cutover &amp; next steps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release branch cutover starts this sprint — reach out to your lead with any branching questions before then.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1127</Words>
  <Application>Microsoft Office PowerPoint</Application>
  <PresentationFormat>Widescreen</PresentationFormat>
  <Paragraphs>187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harsha kuppala</cp:lastModifiedBy>
  <cp:revision>2</cp:revision>
  <dcterms:created xsi:type="dcterms:W3CDTF">2026-09-10T04:37:15Z</dcterms:created>
  <dcterms:modified xsi:type="dcterms:W3CDTF">2026-09-10T04:38:07Z</dcterms:modified>
</cp:coreProperties>
</file>